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bold.fntdata"/><Relationship Id="rId14" Type="http://schemas.openxmlformats.org/officeDocument/2006/relationships/slide" Target="slides/slide9.xml"/><Relationship Id="rId36" Type="http://schemas.openxmlformats.org/officeDocument/2006/relationships/font" Target="fonts/Robot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3b0ed9fdf_1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3b0ed9fdf_1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3b0ed9fdf_1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3b0ed9fdf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3b8f3bd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3b8f3bd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3d886eee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3d886eee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3d886eee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3d886eee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3d886eee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3d886eee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3d886eee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3d886eee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3d886eee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3d886eee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3b8f3bd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3b8f3bd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3b8f3bd6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3b8f3bd6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3b8f3bd6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3b8f3bd6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5bf6e08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5bf6e08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3b8f3bd6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3b8f3bd6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3b8f3bd6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3b8f3bd6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3b8f3bd6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3b8f3bd6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3b8f3bd6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43b8f3bd6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3d886eee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43d886eee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3d886eee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3d886eee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3d886eee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43d886eee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3d886eee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43d886eee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3d886eee7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43d886eee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3d886eee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3d886eee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3b8f3bd6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3b8f3bd6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43d886eee7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43d886eee7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43d886eee7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43d886eee7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3d886eee7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3d886eee7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3d886eee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43d886eee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43d886eee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43d886eee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43d886eee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43d886eee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/>
        </p:nvSpPr>
        <p:spPr>
          <a:xfrm>
            <a:off x="1189950" y="1214225"/>
            <a:ext cx="676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it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PROGETTO BASI DI DATI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189950" y="2376850"/>
            <a:ext cx="67641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Componenti del gruppo:</a:t>
            </a:r>
            <a:endParaRPr b="1"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AutoNum type="arabicParenR"/>
            </a:pPr>
            <a:r>
              <a:rPr lang="it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Matteo Boscherini					0001079114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AutoNum type="arabicParenR"/>
            </a:pPr>
            <a:r>
              <a:rPr lang="it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Alessandro Campedelli				0001077616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AutoNum type="arabicParenR"/>
            </a:pPr>
            <a:r>
              <a:rPr lang="it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Nicolas Cola							0001080556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3000"/>
              <a:t>Introduzione a BOSTARTER</a:t>
            </a:r>
            <a:endParaRPr b="1" sz="3000"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698850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</a:rPr>
              <a:t>Utenti normali</a:t>
            </a:r>
            <a:r>
              <a:rPr lang="it">
                <a:solidFill>
                  <a:srgbClr val="000000"/>
                </a:solidFill>
              </a:rPr>
              <a:t>: possono registrarsi, finanziare progetti, commentare, inserire le proprie skill e candidarsi per un profilo.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</a:rPr>
              <a:t>Utenti creatori</a:t>
            </a:r>
            <a:r>
              <a:rPr lang="it">
                <a:solidFill>
                  <a:srgbClr val="000000"/>
                </a:solidFill>
              </a:rPr>
              <a:t>: </a:t>
            </a:r>
            <a:r>
              <a:rPr lang="it">
                <a:solidFill>
                  <a:srgbClr val="000000"/>
                </a:solidFill>
              </a:rPr>
              <a:t>possono registrarsi, inserire progetti, finanziare progetti, commentare e rispondere ai commenti, inserire le proprie skill, accettare e rifiutare le candidature e candidarsi per un profilo.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</a:rPr>
              <a:t>Utenti amministratori</a:t>
            </a:r>
            <a:r>
              <a:rPr lang="it">
                <a:solidFill>
                  <a:srgbClr val="000000"/>
                </a:solidFill>
              </a:rPr>
              <a:t>: </a:t>
            </a:r>
            <a:r>
              <a:rPr lang="it">
                <a:solidFill>
                  <a:srgbClr val="000000"/>
                </a:solidFill>
              </a:rPr>
              <a:t>possono registrarsi, finanziare progetti, commentare, inserire le proprie skill, gestire le competenze del sistema e candidarsi per un profilo.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3000"/>
              <a:t>Gli utenti di BOSTARTER</a:t>
            </a:r>
            <a:endParaRPr b="1" sz="3000"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8222100" cy="29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00000"/>
                </a:solidFill>
              </a:rPr>
              <a:t>Ogni </a:t>
            </a:r>
            <a:r>
              <a:rPr b="1" lang="it">
                <a:solidFill>
                  <a:srgbClr val="000000"/>
                </a:solidFill>
              </a:rPr>
              <a:t>utente </a:t>
            </a:r>
            <a:r>
              <a:rPr lang="it">
                <a:solidFill>
                  <a:srgbClr val="000000"/>
                </a:solidFill>
              </a:rPr>
              <a:t>ha: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</a:rPr>
              <a:t>Dati personali:</a:t>
            </a:r>
            <a:r>
              <a:rPr lang="it">
                <a:solidFill>
                  <a:srgbClr val="000000"/>
                </a:solidFill>
              </a:rPr>
              <a:t> Email univoca, nickname, password, nome, cognome, anno e luogo di nascita.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</a:rPr>
              <a:t>Competenze:</a:t>
            </a:r>
            <a:r>
              <a:rPr lang="it">
                <a:solidFill>
                  <a:srgbClr val="000000"/>
                </a:solidFill>
              </a:rPr>
              <a:t> Lista di skill con livello (1-5).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00000"/>
                </a:solidFill>
              </a:rPr>
              <a:t>Gli utenti amministratori </a:t>
            </a:r>
            <a:r>
              <a:rPr lang="it">
                <a:solidFill>
                  <a:srgbClr val="000000"/>
                </a:solidFill>
              </a:rPr>
              <a:t>hanno anche un codice di sicurezza.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>
                <a:solidFill>
                  <a:srgbClr val="000000"/>
                </a:solidFill>
              </a:rPr>
              <a:t>Gli utenti creatori </a:t>
            </a:r>
            <a:r>
              <a:rPr lang="it">
                <a:solidFill>
                  <a:srgbClr val="000000"/>
                </a:solidFill>
              </a:rPr>
              <a:t>hanno anche</a:t>
            </a:r>
            <a:r>
              <a:rPr b="1" lang="it">
                <a:solidFill>
                  <a:srgbClr val="000000"/>
                </a:solidFill>
              </a:rPr>
              <a:t> </a:t>
            </a:r>
            <a:r>
              <a:rPr lang="it">
                <a:solidFill>
                  <a:srgbClr val="000000"/>
                </a:solidFill>
              </a:rPr>
              <a:t>di un livello di affidabilità.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3000"/>
              <a:t>Creazione e gestione dei progetti</a:t>
            </a:r>
            <a:endParaRPr b="1" sz="3000"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71900" y="1572900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00000"/>
                </a:solidFill>
              </a:rPr>
              <a:t>Ogni </a:t>
            </a:r>
            <a:r>
              <a:rPr b="1" lang="it">
                <a:solidFill>
                  <a:srgbClr val="000000"/>
                </a:solidFill>
              </a:rPr>
              <a:t>progetto </a:t>
            </a:r>
            <a:r>
              <a:rPr lang="it">
                <a:solidFill>
                  <a:srgbClr val="000000"/>
                </a:solidFill>
              </a:rPr>
              <a:t>include: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it">
                <a:solidFill>
                  <a:srgbClr val="000000"/>
                </a:solidFill>
              </a:rPr>
              <a:t>Nome univoco, descrizione, data di inserimento, foto, budget, data limite.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it">
                <a:solidFill>
                  <a:srgbClr val="000000"/>
                </a:solidFill>
              </a:rPr>
              <a:t>Stato: Aperto/Chiuso.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it">
                <a:solidFill>
                  <a:srgbClr val="000000"/>
                </a:solidFill>
              </a:rPr>
              <a:t>Reward per i finanziatori (codice univoco, descrizione, foto).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</a:rPr>
              <a:t>Hardware</a:t>
            </a:r>
            <a:r>
              <a:rPr lang="it">
                <a:solidFill>
                  <a:srgbClr val="000000"/>
                </a:solidFill>
              </a:rPr>
              <a:t>: Lista componenti (nome, descrizione, prezzo, quantità).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</a:rPr>
              <a:t>Software</a:t>
            </a:r>
            <a:r>
              <a:rPr lang="it">
                <a:solidFill>
                  <a:srgbClr val="000000"/>
                </a:solidFill>
              </a:rPr>
              <a:t>: Lista profili (nome, competenze e livelli minimi).</a:t>
            </a:r>
            <a:endParaRPr/>
          </a:p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3000"/>
              <a:t> Finanziamento di un progetto</a:t>
            </a:r>
            <a:endParaRPr b="1" sz="3000"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Gli </a:t>
            </a:r>
            <a:r>
              <a:rPr b="1" lang="it">
                <a:solidFill>
                  <a:srgbClr val="000000"/>
                </a:solidFill>
              </a:rPr>
              <a:t>utenti </a:t>
            </a:r>
            <a:r>
              <a:rPr lang="it">
                <a:solidFill>
                  <a:srgbClr val="000000"/>
                </a:solidFill>
              </a:rPr>
              <a:t>possono finanziare progetti aperti e scegliere una </a:t>
            </a:r>
            <a:r>
              <a:rPr b="1" lang="it">
                <a:solidFill>
                  <a:srgbClr val="000000"/>
                </a:solidFill>
              </a:rPr>
              <a:t>reward</a:t>
            </a:r>
            <a:r>
              <a:rPr lang="it">
                <a:solidFill>
                  <a:srgbClr val="000000"/>
                </a:solidFill>
              </a:rPr>
              <a:t>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Un </a:t>
            </a:r>
            <a:r>
              <a:rPr b="1" lang="it">
                <a:solidFill>
                  <a:srgbClr val="000000"/>
                </a:solidFill>
              </a:rPr>
              <a:t>utente </a:t>
            </a:r>
            <a:r>
              <a:rPr lang="it">
                <a:solidFill>
                  <a:srgbClr val="000000"/>
                </a:solidFill>
              </a:rPr>
              <a:t>può </a:t>
            </a:r>
            <a:r>
              <a:rPr b="1" lang="it">
                <a:solidFill>
                  <a:srgbClr val="000000"/>
                </a:solidFill>
              </a:rPr>
              <a:t>finanziare </a:t>
            </a:r>
            <a:r>
              <a:rPr lang="it">
                <a:solidFill>
                  <a:srgbClr val="000000"/>
                </a:solidFill>
              </a:rPr>
              <a:t>più volte lo stesso </a:t>
            </a:r>
            <a:r>
              <a:rPr b="1" lang="it">
                <a:solidFill>
                  <a:srgbClr val="000000"/>
                </a:solidFill>
              </a:rPr>
              <a:t>progetto </a:t>
            </a:r>
            <a:r>
              <a:rPr lang="it">
                <a:solidFill>
                  <a:srgbClr val="000000"/>
                </a:solidFill>
              </a:rPr>
              <a:t>in </a:t>
            </a:r>
            <a:r>
              <a:rPr b="1" lang="it">
                <a:solidFill>
                  <a:srgbClr val="000000"/>
                </a:solidFill>
              </a:rPr>
              <a:t>date diverse</a:t>
            </a:r>
            <a:r>
              <a:rPr lang="it">
                <a:solidFill>
                  <a:srgbClr val="000000"/>
                </a:solidFill>
              </a:rPr>
              <a:t>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Un </a:t>
            </a:r>
            <a:r>
              <a:rPr b="1" lang="it">
                <a:solidFill>
                  <a:srgbClr val="000000"/>
                </a:solidFill>
              </a:rPr>
              <a:t>progetto </a:t>
            </a:r>
            <a:r>
              <a:rPr lang="it">
                <a:solidFill>
                  <a:srgbClr val="000000"/>
                </a:solidFill>
              </a:rPr>
              <a:t>si chiude quando: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it" sz="1800">
                <a:solidFill>
                  <a:srgbClr val="000000"/>
                </a:solidFill>
              </a:rPr>
              <a:t>Il budget richiesto è stato raggiunto.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it" sz="1800">
                <a:solidFill>
                  <a:srgbClr val="000000"/>
                </a:solidFill>
              </a:rPr>
              <a:t>La data limite viene superata.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it" sz="3000"/>
              <a:t>Candidature per Progetti Software</a:t>
            </a:r>
            <a:endParaRPr sz="3000"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it">
                <a:solidFill>
                  <a:srgbClr val="000000"/>
                </a:solidFill>
              </a:rPr>
              <a:t>Gli </a:t>
            </a:r>
            <a:r>
              <a:rPr b="1" lang="it">
                <a:solidFill>
                  <a:srgbClr val="000000"/>
                </a:solidFill>
              </a:rPr>
              <a:t>utenti </a:t>
            </a:r>
            <a:r>
              <a:rPr lang="it">
                <a:solidFill>
                  <a:srgbClr val="000000"/>
                </a:solidFill>
              </a:rPr>
              <a:t>possono candidarsi a profili richiesti se possiedono le skill adeguate.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it">
                <a:solidFill>
                  <a:srgbClr val="000000"/>
                </a:solidFill>
              </a:rPr>
              <a:t>Il creatore del progetto può </a:t>
            </a:r>
            <a:r>
              <a:rPr b="1" lang="it">
                <a:solidFill>
                  <a:srgbClr val="000000"/>
                </a:solidFill>
              </a:rPr>
              <a:t>accettare </a:t>
            </a:r>
            <a:r>
              <a:rPr lang="it">
                <a:solidFill>
                  <a:srgbClr val="000000"/>
                </a:solidFill>
              </a:rPr>
              <a:t>o </a:t>
            </a:r>
            <a:r>
              <a:rPr b="1" lang="it">
                <a:solidFill>
                  <a:srgbClr val="000000"/>
                </a:solidFill>
              </a:rPr>
              <a:t>rifiutare </a:t>
            </a:r>
            <a:r>
              <a:rPr lang="it">
                <a:solidFill>
                  <a:srgbClr val="000000"/>
                </a:solidFill>
              </a:rPr>
              <a:t>le candidature.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it">
                <a:solidFill>
                  <a:srgbClr val="000000"/>
                </a:solidFill>
              </a:rPr>
              <a:t>Ogni profilo ha una lista di </a:t>
            </a:r>
            <a:r>
              <a:rPr b="1" lang="it">
                <a:solidFill>
                  <a:srgbClr val="000000"/>
                </a:solidFill>
              </a:rPr>
              <a:t>skill </a:t>
            </a:r>
            <a:r>
              <a:rPr lang="it">
                <a:solidFill>
                  <a:srgbClr val="000000"/>
                </a:solidFill>
              </a:rPr>
              <a:t>richieste con livello minimo necessario.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3000"/>
              <a:t>Interazione tramite commenti</a:t>
            </a:r>
            <a:endParaRPr b="1" sz="3000"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it">
                <a:solidFill>
                  <a:srgbClr val="000000"/>
                </a:solidFill>
              </a:rPr>
              <a:t>Tutti g</a:t>
            </a:r>
            <a:r>
              <a:rPr lang="it">
                <a:solidFill>
                  <a:srgbClr val="000000"/>
                </a:solidFill>
              </a:rPr>
              <a:t>li </a:t>
            </a:r>
            <a:r>
              <a:rPr b="1" lang="it">
                <a:solidFill>
                  <a:srgbClr val="000000"/>
                </a:solidFill>
              </a:rPr>
              <a:t>utenti </a:t>
            </a:r>
            <a:r>
              <a:rPr lang="it">
                <a:solidFill>
                  <a:srgbClr val="000000"/>
                </a:solidFill>
              </a:rPr>
              <a:t>possono </a:t>
            </a:r>
            <a:r>
              <a:rPr b="1" lang="it">
                <a:solidFill>
                  <a:srgbClr val="000000"/>
                </a:solidFill>
              </a:rPr>
              <a:t>commentare </a:t>
            </a:r>
            <a:r>
              <a:rPr lang="it">
                <a:solidFill>
                  <a:srgbClr val="000000"/>
                </a:solidFill>
              </a:rPr>
              <a:t>i progetti. (L’utente creatore non può commentare un suo progetto).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it">
                <a:solidFill>
                  <a:srgbClr val="000000"/>
                </a:solidFill>
              </a:rPr>
              <a:t>I </a:t>
            </a:r>
            <a:r>
              <a:rPr b="1" lang="it">
                <a:solidFill>
                  <a:srgbClr val="000000"/>
                </a:solidFill>
              </a:rPr>
              <a:t>commenti </a:t>
            </a:r>
            <a:r>
              <a:rPr lang="it">
                <a:solidFill>
                  <a:srgbClr val="000000"/>
                </a:solidFill>
              </a:rPr>
              <a:t>hanno un ID univoco, una data e un testo.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it">
                <a:solidFill>
                  <a:srgbClr val="000000"/>
                </a:solidFill>
              </a:rPr>
              <a:t>Il creatore del progetto può </a:t>
            </a:r>
            <a:r>
              <a:rPr b="1" lang="it">
                <a:solidFill>
                  <a:srgbClr val="000000"/>
                </a:solidFill>
              </a:rPr>
              <a:t>rispondere </a:t>
            </a:r>
            <a:r>
              <a:rPr lang="it">
                <a:solidFill>
                  <a:srgbClr val="000000"/>
                </a:solidFill>
              </a:rPr>
              <a:t>ai commenti con una </a:t>
            </a:r>
            <a:r>
              <a:rPr b="1" lang="it">
                <a:solidFill>
                  <a:srgbClr val="000000"/>
                </a:solidFill>
              </a:rPr>
              <a:t>sola </a:t>
            </a:r>
            <a:r>
              <a:rPr lang="it">
                <a:solidFill>
                  <a:srgbClr val="000000"/>
                </a:solidFill>
              </a:rPr>
              <a:t>risposta per commento.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3000"/>
              <a:t>Monitoraggio e logging</a:t>
            </a:r>
            <a:endParaRPr b="1" sz="3000"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it">
                <a:solidFill>
                  <a:srgbClr val="000000"/>
                </a:solidFill>
              </a:rPr>
              <a:t>Ogni </a:t>
            </a:r>
            <a:r>
              <a:rPr b="1" lang="it">
                <a:solidFill>
                  <a:srgbClr val="000000"/>
                </a:solidFill>
              </a:rPr>
              <a:t>evento </a:t>
            </a:r>
            <a:r>
              <a:rPr lang="it">
                <a:solidFill>
                  <a:srgbClr val="000000"/>
                </a:solidFill>
              </a:rPr>
              <a:t>effettuato nel sistema BOSTARTER viene registrato in un </a:t>
            </a:r>
            <a:r>
              <a:rPr b="1" lang="it">
                <a:solidFill>
                  <a:srgbClr val="000000"/>
                </a:solidFill>
              </a:rPr>
              <a:t>log</a:t>
            </a:r>
            <a:r>
              <a:rPr lang="it">
                <a:solidFill>
                  <a:srgbClr val="000000"/>
                </a:solidFill>
              </a:rPr>
              <a:t>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it">
                <a:solidFill>
                  <a:srgbClr val="000000"/>
                </a:solidFill>
              </a:rPr>
              <a:t>Il </a:t>
            </a:r>
            <a:r>
              <a:rPr b="1" lang="it">
                <a:solidFill>
                  <a:srgbClr val="000000"/>
                </a:solidFill>
              </a:rPr>
              <a:t>log </a:t>
            </a:r>
            <a:r>
              <a:rPr lang="it">
                <a:solidFill>
                  <a:srgbClr val="000000"/>
                </a:solidFill>
              </a:rPr>
              <a:t>è implementato in una </a:t>
            </a:r>
            <a:r>
              <a:rPr i="1" lang="it">
                <a:solidFill>
                  <a:srgbClr val="000000"/>
                </a:solidFill>
              </a:rPr>
              <a:t>collezione MongoDB</a:t>
            </a:r>
            <a:r>
              <a:rPr lang="it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it" sz="3000"/>
              <a:t>Statistiche e Classifiche</a:t>
            </a:r>
            <a:endParaRPr sz="3000"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it">
                <a:solidFill>
                  <a:srgbClr val="000000"/>
                </a:solidFill>
              </a:rPr>
              <a:t>Top 3 utenti creatori</a:t>
            </a:r>
            <a:r>
              <a:rPr lang="it">
                <a:solidFill>
                  <a:srgbClr val="000000"/>
                </a:solidFill>
              </a:rPr>
              <a:t> per affidabilità.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it">
                <a:solidFill>
                  <a:srgbClr val="000000"/>
                </a:solidFill>
              </a:rPr>
              <a:t>Top 3 progetti aperti</a:t>
            </a:r>
            <a:r>
              <a:rPr lang="it">
                <a:solidFill>
                  <a:srgbClr val="000000"/>
                </a:solidFill>
              </a:rPr>
              <a:t> più vicini al completamento.</a:t>
            </a:r>
            <a:br>
              <a:rPr lang="it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it">
                <a:solidFill>
                  <a:srgbClr val="000000"/>
                </a:solidFill>
              </a:rPr>
              <a:t>Top 3 finanziatori</a:t>
            </a:r>
            <a:r>
              <a:rPr lang="it">
                <a:solidFill>
                  <a:srgbClr val="000000"/>
                </a:solidFill>
              </a:rPr>
              <a:t> per totale importo erogato.</a:t>
            </a:r>
            <a:endParaRPr/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Modello ER di BOSTARTER</a:t>
            </a:r>
            <a:endParaRPr b="1" sz="3000"/>
          </a:p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1" name="Google Shape;131;p22" title="diagrammaInizial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25" y="1756950"/>
            <a:ext cx="7621351" cy="333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3000"/>
              <a:t>Analisi delle Ridondanze</a:t>
            </a:r>
            <a:endParaRPr sz="3000"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471900" y="1919075"/>
            <a:ext cx="8222100" cy="29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00000"/>
                </a:solidFill>
              </a:rPr>
              <a:t>Coefficienti di Analisi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Peso operazioni scrittura (</a:t>
            </a:r>
            <a:r>
              <a:rPr b="1" lang="it">
                <a:solidFill>
                  <a:srgbClr val="000000"/>
                </a:solidFill>
              </a:rPr>
              <a:t>α</a:t>
            </a:r>
            <a:r>
              <a:rPr lang="it">
                <a:solidFill>
                  <a:srgbClr val="000000"/>
                </a:solidFill>
              </a:rPr>
              <a:t>) = 2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Peso operazioni interattive (</a:t>
            </a:r>
            <a:r>
              <a:rPr b="1" lang="it">
                <a:solidFill>
                  <a:srgbClr val="000000"/>
                </a:solidFill>
              </a:rPr>
              <a:t>wI</a:t>
            </a:r>
            <a:r>
              <a:rPr lang="it">
                <a:solidFill>
                  <a:srgbClr val="000000"/>
                </a:solidFill>
              </a:rPr>
              <a:t>) = 1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Peso operazioni batch (</a:t>
            </a:r>
            <a:r>
              <a:rPr b="1" lang="it">
                <a:solidFill>
                  <a:srgbClr val="000000"/>
                </a:solidFill>
              </a:rPr>
              <a:t>wB</a:t>
            </a:r>
            <a:r>
              <a:rPr lang="it">
                <a:solidFill>
                  <a:srgbClr val="000000"/>
                </a:solidFill>
              </a:rPr>
              <a:t>) = 0.5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00000"/>
                </a:solidFill>
              </a:rPr>
              <a:t>Scenario di Calcolo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10 progetti, 3 finanziamenti per progetto.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5 utenti, 2 progetti per utente.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it" sz="3000"/>
              <a:t>Costi Senza Ridondanza #num_progetti</a:t>
            </a:r>
            <a:endParaRPr b="1" sz="3000"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Operazione 1 (</a:t>
            </a:r>
            <a:r>
              <a:rPr b="1" lang="it">
                <a:solidFill>
                  <a:srgbClr val="000000"/>
                </a:solidFill>
              </a:rPr>
              <a:t>Aggiunta</a:t>
            </a:r>
            <a:r>
              <a:rPr lang="it">
                <a:solidFill>
                  <a:srgbClr val="000000"/>
                </a:solidFill>
              </a:rPr>
              <a:t> </a:t>
            </a:r>
            <a:r>
              <a:rPr b="1" lang="it">
                <a:solidFill>
                  <a:srgbClr val="000000"/>
                </a:solidFill>
              </a:rPr>
              <a:t>progetto</a:t>
            </a:r>
            <a:r>
              <a:rPr lang="it">
                <a:solidFill>
                  <a:srgbClr val="000000"/>
                </a:solidFill>
              </a:rPr>
              <a:t>)</a:t>
            </a:r>
            <a:r>
              <a:rPr lang="it">
                <a:solidFill>
                  <a:srgbClr val="000000"/>
                </a:solidFill>
              </a:rPr>
              <a:t> = 4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Operazione 2 (</a:t>
            </a:r>
            <a:r>
              <a:rPr b="1" lang="it">
                <a:solidFill>
                  <a:srgbClr val="000000"/>
                </a:solidFill>
              </a:rPr>
              <a:t>Visualizzazione progetti/finanziamenti)</a:t>
            </a:r>
            <a:r>
              <a:rPr lang="it">
                <a:solidFill>
                  <a:srgbClr val="000000"/>
                </a:solidFill>
              </a:rPr>
              <a:t> = 20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Operazione 3 (</a:t>
            </a:r>
            <a:r>
              <a:rPr b="1" lang="it">
                <a:solidFill>
                  <a:srgbClr val="000000"/>
                </a:solidFill>
              </a:rPr>
              <a:t>Conteggio progetti di un utente</a:t>
            </a:r>
            <a:r>
              <a:rPr lang="it">
                <a:solidFill>
                  <a:srgbClr val="000000"/>
                </a:solidFill>
              </a:rPr>
              <a:t>) = 3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</a:rPr>
              <a:t>Totale = 27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it" sz="3000"/>
              <a:t>Costi Con Ridondanza #num_progetti</a:t>
            </a:r>
            <a:endParaRPr b="1" sz="3000"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Operazione 1 (</a:t>
            </a:r>
            <a:r>
              <a:rPr b="1" lang="it">
                <a:solidFill>
                  <a:srgbClr val="000000"/>
                </a:solidFill>
              </a:rPr>
              <a:t>Aggiunta</a:t>
            </a:r>
            <a:r>
              <a:rPr lang="it">
                <a:solidFill>
                  <a:srgbClr val="000000"/>
                </a:solidFill>
              </a:rPr>
              <a:t> </a:t>
            </a:r>
            <a:r>
              <a:rPr b="1" lang="it">
                <a:solidFill>
                  <a:srgbClr val="000000"/>
                </a:solidFill>
              </a:rPr>
              <a:t>progetto</a:t>
            </a:r>
            <a:r>
              <a:rPr lang="it">
                <a:solidFill>
                  <a:srgbClr val="000000"/>
                </a:solidFill>
              </a:rPr>
              <a:t>) = 6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Operazione 2 (</a:t>
            </a:r>
            <a:r>
              <a:rPr b="1" lang="it">
                <a:solidFill>
                  <a:srgbClr val="000000"/>
                </a:solidFill>
              </a:rPr>
              <a:t>Visualizzazione progetti/finanziamenti)</a:t>
            </a:r>
            <a:r>
              <a:rPr lang="it">
                <a:solidFill>
                  <a:srgbClr val="000000"/>
                </a:solidFill>
              </a:rPr>
              <a:t> = 20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Operazione 3 (</a:t>
            </a:r>
            <a:r>
              <a:rPr b="1" lang="it">
                <a:solidFill>
                  <a:srgbClr val="000000"/>
                </a:solidFill>
              </a:rPr>
              <a:t>Conteggio progetti di un utente</a:t>
            </a:r>
            <a:r>
              <a:rPr lang="it">
                <a:solidFill>
                  <a:srgbClr val="000000"/>
                </a:solidFill>
              </a:rPr>
              <a:t>) = 1.5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</a:rPr>
              <a:t>Totale = 27.5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it" sz="3000"/>
              <a:t>Confronto e Conclusione</a:t>
            </a:r>
            <a:endParaRPr sz="3000"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it">
                <a:solidFill>
                  <a:srgbClr val="000000"/>
                </a:solidFill>
              </a:rPr>
              <a:t>Confronto tra costi </a:t>
            </a:r>
            <a:r>
              <a:rPr lang="it">
                <a:solidFill>
                  <a:srgbClr val="000000"/>
                </a:solidFill>
              </a:rPr>
              <a:t>= 27 / 27.5 = </a:t>
            </a:r>
            <a:r>
              <a:rPr b="1" lang="it">
                <a:solidFill>
                  <a:srgbClr val="000000"/>
                </a:solidFill>
              </a:rPr>
              <a:t>0.98</a:t>
            </a:r>
            <a:r>
              <a:rPr lang="it">
                <a:solidFill>
                  <a:srgbClr val="000000"/>
                </a:solidFill>
              </a:rPr>
              <a:t> (&lt;1)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it">
                <a:solidFill>
                  <a:srgbClr val="000000"/>
                </a:solidFill>
              </a:rPr>
              <a:t>Conclusione</a:t>
            </a:r>
            <a:r>
              <a:rPr lang="it">
                <a:solidFill>
                  <a:srgbClr val="000000"/>
                </a:solidFill>
              </a:rPr>
              <a:t>: </a:t>
            </a:r>
            <a:r>
              <a:rPr lang="it" u="sng">
                <a:solidFill>
                  <a:srgbClr val="000000"/>
                </a:solidFill>
              </a:rPr>
              <a:t>Conviene rimuovere la ridondanza</a:t>
            </a:r>
            <a:endParaRPr u="sng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Modello ER Ristrutturato di BOSTARTER</a:t>
            </a:r>
            <a:endParaRPr/>
          </a:p>
        </p:txBody>
      </p:sp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66" name="Google Shape;166;p27" title="diagrammaRistrutturat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37" y="1756950"/>
            <a:ext cx="7621326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Modello Logico di </a:t>
            </a:r>
            <a:r>
              <a:rPr b="1" lang="it" sz="3000"/>
              <a:t>BOSTARTER</a:t>
            </a:r>
            <a:r>
              <a:rPr b="1" lang="it" sz="3000"/>
              <a:t> </a:t>
            </a:r>
            <a:endParaRPr b="1" sz="3000"/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499" y="1812175"/>
            <a:ext cx="6219000" cy="31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Modello Logico di BOSTARTER </a:t>
            </a:r>
            <a:endParaRPr/>
          </a:p>
        </p:txBody>
      </p:sp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613" y="1820750"/>
            <a:ext cx="6714674" cy="311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del Database</a:t>
            </a:r>
            <a:endParaRPr b="1" sz="3000"/>
          </a:p>
        </p:txBody>
      </p:sp>
      <p:sp>
        <p:nvSpPr>
          <p:cNvPr id="186" name="Google Shape;186;p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87" name="Google Shape;187;p3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975" y="2245975"/>
            <a:ext cx="3495675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 title="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1525" y="3415516"/>
            <a:ext cx="4590257" cy="120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 title="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1525" y="2017288"/>
            <a:ext cx="4590250" cy="110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del Database</a:t>
            </a:r>
            <a:endParaRPr b="1" sz="3000"/>
          </a:p>
        </p:txBody>
      </p:sp>
      <p:sp>
        <p:nvSpPr>
          <p:cNvPr id="195" name="Google Shape;195;p3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96" name="Google Shape;196;p31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825" y="1798925"/>
            <a:ext cx="3487975" cy="127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1" title="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213" y="3247275"/>
            <a:ext cx="3507205" cy="127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1" title="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875" y="2093325"/>
            <a:ext cx="4819413" cy="235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del Database</a:t>
            </a:r>
            <a:endParaRPr b="1" sz="3000"/>
          </a:p>
        </p:txBody>
      </p:sp>
      <p:sp>
        <p:nvSpPr>
          <p:cNvPr id="204" name="Google Shape;204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05" name="Google Shape;205;p32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25" y="2058100"/>
            <a:ext cx="4077475" cy="23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2" title="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350" y="2289250"/>
            <a:ext cx="3887249" cy="184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del Database</a:t>
            </a:r>
            <a:endParaRPr b="1" sz="3000"/>
          </a:p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13" name="Google Shape;213;p33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571750"/>
            <a:ext cx="3985626" cy="151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100" y="2571750"/>
            <a:ext cx="4286191" cy="1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del Database</a:t>
            </a:r>
            <a:endParaRPr b="1" sz="3000"/>
          </a:p>
        </p:txBody>
      </p:sp>
      <p:sp>
        <p:nvSpPr>
          <p:cNvPr id="220" name="Google Shape;220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21" name="Google Shape;221;p34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00" y="2915350"/>
            <a:ext cx="286702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4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8100" y="1794000"/>
            <a:ext cx="4511900" cy="155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4" title="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8095" y="3458100"/>
            <a:ext cx="4511906" cy="147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del Database</a:t>
            </a:r>
            <a:endParaRPr b="1" sz="3000"/>
          </a:p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30" name="Google Shape;230;p35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100" y="2681472"/>
            <a:ext cx="4085449" cy="127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5" title="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55038"/>
            <a:ext cx="4133300" cy="1923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Applicazione WEB</a:t>
            </a:r>
            <a:endParaRPr b="1" sz="3000"/>
          </a:p>
        </p:txBody>
      </p:sp>
      <p:sp>
        <p:nvSpPr>
          <p:cNvPr id="237" name="Google Shape;237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38" name="Google Shape;238;p36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525" y="1794100"/>
            <a:ext cx="1510850" cy="329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Applicazione WEB</a:t>
            </a:r>
            <a:endParaRPr b="1" sz="3000"/>
          </a:p>
        </p:txBody>
      </p:sp>
      <p:sp>
        <p:nvSpPr>
          <p:cNvPr id="244" name="Google Shape;244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45" name="Google Shape;245;p37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900" y="1794100"/>
            <a:ext cx="1510850" cy="329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7" title="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2931" y="1864425"/>
            <a:ext cx="2301900" cy="315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p37"/>
          <p:cNvCxnSpPr/>
          <p:nvPr/>
        </p:nvCxnSpPr>
        <p:spPr>
          <a:xfrm>
            <a:off x="1376300" y="2517725"/>
            <a:ext cx="2160600" cy="1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7"/>
          <p:cNvCxnSpPr/>
          <p:nvPr/>
        </p:nvCxnSpPr>
        <p:spPr>
          <a:xfrm flipH="1">
            <a:off x="3525325" y="2517725"/>
            <a:ext cx="9000" cy="81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7"/>
          <p:cNvCxnSpPr/>
          <p:nvPr/>
        </p:nvCxnSpPr>
        <p:spPr>
          <a:xfrm>
            <a:off x="3525318" y="3296237"/>
            <a:ext cx="1317600" cy="31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Applicazione WEB</a:t>
            </a:r>
            <a:endParaRPr b="1" sz="3000"/>
          </a:p>
        </p:txBody>
      </p:sp>
      <p:sp>
        <p:nvSpPr>
          <p:cNvPr id="255" name="Google Shape;255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56" name="Google Shape;256;p38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900" y="1794100"/>
            <a:ext cx="1510850" cy="329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38"/>
          <p:cNvCxnSpPr/>
          <p:nvPr/>
        </p:nvCxnSpPr>
        <p:spPr>
          <a:xfrm>
            <a:off x="3493493" y="3281087"/>
            <a:ext cx="1317600" cy="31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58" name="Google Shape;258;p38" title="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1100" y="1864426"/>
            <a:ext cx="2199050" cy="315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38"/>
          <p:cNvCxnSpPr/>
          <p:nvPr/>
        </p:nvCxnSpPr>
        <p:spPr>
          <a:xfrm rot="10800000">
            <a:off x="1247100" y="2705675"/>
            <a:ext cx="2278200" cy="11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8"/>
          <p:cNvCxnSpPr/>
          <p:nvPr/>
        </p:nvCxnSpPr>
        <p:spPr>
          <a:xfrm flipH="1">
            <a:off x="3513600" y="2729100"/>
            <a:ext cx="11700" cy="552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Applicazione WEB</a:t>
            </a:r>
            <a:endParaRPr b="1" sz="3000"/>
          </a:p>
        </p:txBody>
      </p:sp>
      <p:sp>
        <p:nvSpPr>
          <p:cNvPr id="266" name="Google Shape;266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67" name="Google Shape;267;p39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900" y="1794100"/>
            <a:ext cx="1510850" cy="329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9"/>
          <p:cNvCxnSpPr/>
          <p:nvPr/>
        </p:nvCxnSpPr>
        <p:spPr>
          <a:xfrm rot="10800000">
            <a:off x="3525325" y="3328100"/>
            <a:ext cx="11700" cy="1573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9"/>
          <p:cNvCxnSpPr/>
          <p:nvPr/>
        </p:nvCxnSpPr>
        <p:spPr>
          <a:xfrm>
            <a:off x="3525318" y="3296237"/>
            <a:ext cx="1317600" cy="31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39"/>
          <p:cNvCxnSpPr/>
          <p:nvPr/>
        </p:nvCxnSpPr>
        <p:spPr>
          <a:xfrm>
            <a:off x="1376425" y="4901675"/>
            <a:ext cx="2160600" cy="117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1" name="Google Shape;27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2934" y="1794100"/>
            <a:ext cx="2666416" cy="329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Applicazione WEB</a:t>
            </a:r>
            <a:endParaRPr b="1" sz="3000"/>
          </a:p>
        </p:txBody>
      </p:sp>
      <p:sp>
        <p:nvSpPr>
          <p:cNvPr id="277" name="Google Shape;277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78" name="Google Shape;2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213" y="1952400"/>
            <a:ext cx="2828925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0899" y="1952400"/>
            <a:ext cx="2365500" cy="255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40"/>
          <p:cNvCxnSpPr/>
          <p:nvPr/>
        </p:nvCxnSpPr>
        <p:spPr>
          <a:xfrm>
            <a:off x="2057443" y="2343262"/>
            <a:ext cx="3593400" cy="102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" name="Google Shape;281;p40"/>
          <p:cNvSpPr/>
          <p:nvPr/>
        </p:nvSpPr>
        <p:spPr>
          <a:xfrm>
            <a:off x="847850" y="2224150"/>
            <a:ext cx="1209600" cy="270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Implementazione Applicazione WEB</a:t>
            </a:r>
            <a:endParaRPr b="1" sz="3000"/>
          </a:p>
        </p:txBody>
      </p:sp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88" name="Google Shape;28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438" y="2410375"/>
            <a:ext cx="2905125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/>
        </p:nvSpPr>
        <p:spPr>
          <a:xfrm>
            <a:off x="1189950" y="787050"/>
            <a:ext cx="6764100" cy="17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it" sz="5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GRAZIE PER L’ATTENZIONE</a:t>
            </a:r>
            <a:endParaRPr sz="5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42"/>
          <p:cNvSpPr txBox="1"/>
          <p:nvPr/>
        </p:nvSpPr>
        <p:spPr>
          <a:xfrm>
            <a:off x="1189950" y="2740875"/>
            <a:ext cx="67641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Componenti del gruppo:</a:t>
            </a:r>
            <a:endParaRPr b="1"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AutoNum type="arabicParenR"/>
            </a:pPr>
            <a:r>
              <a:rPr lang="it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Matteo Boscherini					0001079114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AutoNum type="arabicParenR"/>
            </a:pPr>
            <a:r>
              <a:rPr lang="it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Alessandro Campedelli				0001077616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AutoNum type="arabicParenR"/>
            </a:pPr>
            <a:r>
              <a:rPr lang="it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Nicolas Cola							0001080556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